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37160" cy="63276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🦅  Raptor — 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8CAE4"/>
                </a:solidFill>
                <a:latin typeface="Calibri"/>
              </a:defRPr>
            </a:pPr>
            <a:r>
              <a:t>Federated GraphQL Architecture  |  Data Lanes  |  POC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CA0"/>
                </a:solidFill>
                <a:latin typeface="Calibri"/>
              </a:defRPr>
            </a:pPr>
            <a:r>
              <a:t>SAILPOINT  | 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A0"/>
                </a:solidFill>
                <a:latin typeface="Calibri"/>
              </a:defRPr>
            </a:pPr>
            <a:r>
              <a:t>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GraphQL Federation: 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2103120" cy="20116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Publish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Services publish</a:t>
            </a:r>
            <a:br/>
            <a:r>
              <a:t>entity topics</a:t>
            </a:r>
            <a:br/>
            <a:r>
              <a:t>to 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28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C8C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280160"/>
            <a:ext cx="2103120" cy="20116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8A74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Materialize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Data hydrated,</a:t>
            </a:r>
            <a:br/>
            <a:r>
              <a:t>deduped, shaped</a:t>
            </a:r>
            <a:br/>
            <a:r>
              <a:t>into clean 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28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C8C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280160"/>
            <a:ext cx="2103120" cy="20116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77F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Fan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Entities distributed</a:t>
            </a:r>
            <a:br/>
            <a:r>
              <a:t>to fit-for-purpose</a:t>
            </a:r>
            <a:br/>
            <a:r>
              <a:t>storage lanes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828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C8C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19" y="1280160"/>
            <a:ext cx="2103120" cy="20116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F42C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GraphQL subgraphs</a:t>
            </a:r>
            <a:br/>
            <a:r>
              <a:t>federate into</a:t>
            </a:r>
            <a:br/>
            <a:r>
              <a:t>single supergraph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39" y="1828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C8C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1280160"/>
            <a:ext cx="2103120" cy="2011680"/>
          </a:xfrm>
          <a:prstGeom prst="roundRect">
            <a:avLst/>
          </a:prstGeom>
          <a:solidFill>
            <a:srgbClr val="1A2D5A"/>
          </a:solidFill>
          <a:ln w="25400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371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8CAE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0F5"/>
                </a:solidFill>
                <a:latin typeface="Calibri"/>
              </a:defRPr>
            </a:pPr>
            <a:r>
              <a:t>Apollo Router</a:t>
            </a:r>
            <a:br/>
            <a:r>
              <a:t>serves unified</a:t>
            </a:r>
            <a:br/>
            <a:r>
              <a:t>external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7F00"/>
                </a:solidFill>
                <a:latin typeface="Calibri"/>
              </a:defRPr>
            </a:pPr>
            <a:r>
              <a:t>Key Federation Directives: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@key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023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Entity Identity — defines primary key for federated entities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@shareable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Shared Fields — field can be resolved by multiple subgraphs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@external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754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External Fields — declares field owned by another subgraph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extend type Query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20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Extending Root Query from subgraphs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77F00"/>
                </a:solidFill>
                <a:latin typeface="Calibri"/>
              </a:defRPr>
            </a:pPr>
            <a:r>
              <a:t>Gateway Overhead: ≤5ms p95  |  Availability: ≥99.99%  |  Scale: 100K RPS  |  Cache Invalidation: &lt;1s  |  Schema Rollback: ≤5min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Subgraph Architecture: aperture-core &amp; aperture-graph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303520" cy="457200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30352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⚡  aperture-core  (Pointed Lookups)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Backend: ScyllaDB (key-value lookups)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Owns core entity types: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• Identity, Entitlement,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• AccessProfile, Role,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3063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All base properties: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• name, email, department, etc.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• Direct relationships: manager, accounts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• entitlementAssignments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77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9436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SLO: p95 ≤ 10ms  |  Freshness: &lt; 60s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34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Scale: ≥ 100M identities, ≥ 5B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63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4892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Cost target: 30-50% reduction vs current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188720"/>
            <a:ext cx="5303520" cy="457200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88720"/>
            <a:ext cx="5303520" cy="5486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298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Calibri"/>
              </a:defRPr>
            </a:pPr>
            <a:r>
              <a:t>🔗  aperture-graph  (Graph Traversals)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691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Backend: JanusGraph on Scylla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537960" y="2148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Owns graph-specific fields: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377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• effectiveAccess, identitiesWithAccess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606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• traverseIdentities, traverseEntitlements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834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• searchIdentities (nested filtering)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063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• Access path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291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537960" y="3520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Relationship chain: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749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identity → role → access_profile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977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  entitlement → resource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537960" y="4434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SLO: p95 &lt; 1s (N-hop), &lt; 100ms (10-hop)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663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Scale: ≥ 5B edges across ≥ 100M nodes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892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6537960" y="5120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Enables: policy eval, JIT access, SoD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943600"/>
            <a:ext cx="11247120" cy="457200"/>
          </a:xfrm>
          <a:prstGeom prst="roundRect">
            <a:avLst/>
          </a:prstGeom>
          <a:solidFill>
            <a:srgbClr val="1A2D5A"/>
          </a:solidFill>
          <a:ln w="1270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9618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A63D"/>
                </a:solidFill>
                <a:latin typeface="Calibri"/>
              </a:defRPr>
            </a:pPr>
            <a:r>
              <a:t>🔄  Cross-Subgraph: Router automatically stitches core + graph data. One query fetches identity name (core) + effective access (graph) seamlessly.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Use Cases Powered by Raptor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🔍  Identity Quick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Single query: name, email, org 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all effective entitlements.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No separate lookups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18872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298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Calibri"/>
              </a:defRPr>
            </a:pPr>
            <a:r>
              <a:t>🔎  Search with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691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Search identities + enrich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920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profile info + real-time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148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counts in one 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18872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298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Calibri"/>
              </a:defRPr>
            </a:pPr>
            <a:r>
              <a:t>🛡️  Access Impact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691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"If I revoke this entitlement,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20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who is affected and how have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148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they used it?"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118872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6F42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1188720"/>
            <a:ext cx="2743200" cy="5486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298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42C1"/>
                </a:solidFill>
                <a:latin typeface="Calibri"/>
              </a:defRPr>
            </a:pPr>
            <a:r>
              <a:t>⚖️  Policy Engine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691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On-demand identity context 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1920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SoD, JIT access, continuous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148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compliance checks.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65760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48C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657600"/>
            <a:ext cx="2743200" cy="54864"/>
          </a:xfrm>
          <a:prstGeom prst="rect">
            <a:avLst/>
          </a:prstGeom>
          <a:solidFill>
            <a:srgbClr val="48C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67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8CAE4"/>
                </a:solidFill>
                <a:latin typeface="Calibri"/>
              </a:defRPr>
            </a:pPr>
            <a:r>
              <a:t>🕸️  Identity 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Visual exploration of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389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relationships, path tracing,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617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privilege exposure analysis.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365760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6120" y="3657600"/>
            <a:ext cx="2743200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3767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🔄  Role Change Propagation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1605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Graph-scoped diffs for role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389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changes → targeted provision/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617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deprovision actions.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365760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657600"/>
            <a:ext cx="2743200" cy="54864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767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Calibri"/>
              </a:defRPr>
            </a:pPr>
            <a:r>
              <a:t>📊  Real-Time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1605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Live login counts, access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389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requests, anomaly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617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without Snowflake scans.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06840" y="3657600"/>
            <a:ext cx="2743200" cy="2103120"/>
          </a:xfrm>
          <a:prstGeom prst="roundRect">
            <a:avLst/>
          </a:prstGeom>
          <a:solidFill>
            <a:srgbClr val="1A2D5A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06840" y="365760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37673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🔐  Simplified Materialization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1605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Pointed lookups replace stateful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389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streaming joins. Identity docs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617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become stateless enrichment.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229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Technology Decisions &amp;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0"/>
                </a:solidFill>
                <a:latin typeface="Calibri"/>
              </a:defRPr>
            </a:pPr>
            <a:r>
              <a:t>SAILPOINT  |  RAPTOR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GraphQL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Apollo Router + Federation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✅ Excellent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234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High-perf Rust gateway, mature federation,</a:t>
            </a:r>
            <a:br/>
            <a:r>
              <a:t>preview/compose, MCP integration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73152" cy="822960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Low-Latency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Calibri"/>
              </a:defRPr>
            </a:pPr>
            <a:r>
              <a:t>ScyllaDB (self-hosted)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40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✅ Excellent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40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Ultra-low latency, cost-efficient,</a:t>
            </a:r>
            <a:br/>
            <a:r>
              <a:t>FedRAMP-ready, same cluster as 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73152" cy="82296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Graph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7F00"/>
                </a:solidFill>
                <a:latin typeface="Calibri"/>
              </a:defRPr>
            </a:pPr>
            <a:r>
              <a:t>JanusGraph + Scylla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✅ Excellent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246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Mature open source, scalable,</a:t>
            </a:r>
            <a:br/>
            <a:r>
              <a:t>leverages same Scylla cluster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73152" cy="82296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Real-Time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42C1"/>
                </a:solidFill>
                <a:latin typeface="Calibri"/>
              </a:defRPr>
            </a:pPr>
            <a:r>
              <a:t>ClickHouse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51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✅ Excellent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251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Extreme read speed, columnar storage,</a:t>
            </a:r>
            <a:br/>
            <a:r>
              <a:t>mature ecosystem, Kafka connectors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73152" cy="822960"/>
          </a:xfrm>
          <a:prstGeom prst="rect">
            <a:avLst/>
          </a:prstGeom>
          <a:solidFill>
            <a:srgbClr val="48C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Alternative: Lookups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8CAE4"/>
                </a:solidFill>
                <a:latin typeface="Calibri"/>
              </a:defRPr>
            </a:pPr>
            <a:r>
              <a:t>Aerospike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✅ Excellent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257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Very low latency, built-in HA,</a:t>
            </a:r>
            <a:br/>
            <a:r>
              <a:t>being evaluated as alternative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A0"/>
                </a:solidFill>
                <a:latin typeface="Calibri"/>
              </a:defRPr>
            </a:pPr>
            <a:r>
              <a:t>📂 Repos: aperture-core (ScyllaDB) | aperture-graph (JanusGraph) | aperture-search (ES) | pointed-lookups-dip | gitops-k8s (apollo-poc)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Deep Dive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Calibri"/>
              </a:defRPr>
            </a:pPr>
            <a:r>
              <a:t>Let's Build the Future of Data at SailPoint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A0"/>
                </a:solidFill>
                <a:latin typeface="Calibri"/>
              </a:defRPr>
            </a:pPr>
            <a:r>
              <a:t>📧 dattu.marneni@sailpoint.com  |  📋 DPINTAKE-33  |  💬 #raptor-data-platform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