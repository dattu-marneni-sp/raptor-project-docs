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37160" cy="63276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🦅  Raptor — Roadmap &amp;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8CAE4"/>
                </a:solidFill>
                <a:latin typeface="Calibri"/>
              </a:defRPr>
            </a:pPr>
            <a:r>
              <a:t>Phased Delivery  |  DACI Status  |  Current Progress  | 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CA0"/>
                </a:solidFill>
                <a:latin typeface="Calibri"/>
              </a:defRPr>
            </a:pPr>
            <a:r>
              <a:t>SAILPOINT  | 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A0"/>
                </a:solidFill>
                <a:latin typeface="Calibri"/>
              </a:defRPr>
            </a:pPr>
            <a:r>
              <a:t>March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229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Phased Delivery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0"/>
                </a:solidFill>
                <a:latin typeface="Calibri"/>
              </a:defRPr>
            </a:pPr>
            <a:r>
              <a:t>SAILPOINT  |  RAPTOR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2743200" cy="438912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743200" cy="5486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A745"/>
                </a:solidFill>
                <a:latin typeface="Calibri"/>
              </a:defRPr>
            </a:pPr>
            <a:r>
              <a:t>Phase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Prove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8A745"/>
                </a:solidFill>
                <a:latin typeface="Calibri"/>
              </a:defRPr>
            </a:pPr>
            <a:r>
              <a:t>Q4'25 - Q1'26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Validate each lane via POCs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70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Joint observability 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1810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Runbooks &amp; cost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6557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ALT decision gate: continue/pivot/pause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1188720"/>
            <a:ext cx="2743200" cy="438912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188720"/>
            <a:ext cx="2743200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Calibri"/>
              </a:defRPr>
            </a:pPr>
            <a:r>
              <a:t>Phase 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Golden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C107"/>
                </a:solidFill>
                <a:latin typeface="Calibri"/>
              </a:defRPr>
            </a:pPr>
            <a:r>
              <a:t>Q2'26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423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Documented Kafka→Store→GraphQL 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770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Schema &amp; SLO templates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11810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First product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46557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MySailPoint or Access Center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1188720"/>
            <a:ext cx="2743200" cy="438912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188720"/>
            <a:ext cx="27432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Calibri"/>
              </a:defRPr>
            </a:pPr>
            <a:r>
              <a:t>Phase III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Self-Service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  <a:latin typeface="Calibri"/>
              </a:defRPr>
            </a:pPr>
            <a:r>
              <a:t>Q3'26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423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Prebuilt templates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770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Onboarding guides &amp; cost dashboards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11810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Internal workshops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46557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Scale early adopters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188720"/>
            <a:ext cx="2743200" cy="438912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1188720"/>
            <a:ext cx="2743200" cy="5486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F42C1"/>
                </a:solidFill>
                <a:latin typeface="Calibri"/>
              </a:defRPr>
            </a:pPr>
            <a:r>
              <a:t>Phase IV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Scale &amp; Harden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F42C1"/>
                </a:solidFill>
                <a:latin typeface="Calibri"/>
              </a:defRPr>
            </a:pPr>
            <a:r>
              <a:t>Q4'26+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23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External GraphQL exposure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770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FedRAMP readiness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11810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Cost optimization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46557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• SLO enforcement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A745"/>
                </a:solidFill>
                <a:latin typeface="Calibri"/>
              </a:defRPr>
            </a:pPr>
            <a:r>
              <a:t>◀ WE ARE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229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DACI Decision Status &amp; POC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0"/>
                </a:solidFill>
                <a:latin typeface="Calibri"/>
              </a:defRPr>
            </a:pPr>
            <a:r>
              <a:t>SAILPOINT  |  RAPTOR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73152" cy="8686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GraphQL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34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Apollo Router + Federation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234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Calibri"/>
              </a:defRPr>
            </a:pPr>
            <a:r>
              <a:t>📝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234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SAASD8NG-4502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2344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Stand up router,</a:t>
            </a:r>
            <a:br/>
            <a:r>
              <a:t>first subgraph integrated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73152" cy="868680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40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Pointed Lookups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240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ScyllaDB (self-hosted + Cloud)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A745"/>
                </a:solidFill>
                <a:latin typeface="Calibri"/>
              </a:defRPr>
            </a:pPr>
            <a:r>
              <a:t>🔄 In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SAASD8NG-4501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2402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p95 ≤ 10ms @ 5K RPS,</a:t>
            </a:r>
            <a:br/>
            <a:r>
              <a:t>cost ↓ 30%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73152" cy="86868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46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7F00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Graph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JanusGraph on Scylla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A745"/>
                </a:solidFill>
                <a:latin typeface="Calibri"/>
              </a:defRPr>
            </a:pPr>
            <a:r>
              <a:t>🔄 In 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SAASD8NG-4273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2461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p95 &lt; 1s for N-hop,</a:t>
            </a:r>
            <a:br/>
            <a:r>
              <a:t>5B edges scale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06240"/>
            <a:ext cx="73152" cy="86868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251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F42C1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Real-Time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ClickHouse (self-hosted/SaaS)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251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Calibri"/>
              </a:defRPr>
            </a:pPr>
            <a:r>
              <a:t>📝 Draft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SAASD8NG-4972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2519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p95 &lt; 300ms,</a:t>
            </a:r>
            <a:br/>
            <a:r>
              <a:t>cost ↓ 40% vs SF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212080"/>
            <a:ext cx="73152" cy="868680"/>
          </a:xfrm>
          <a:prstGeom prst="rect">
            <a:avLst/>
          </a:prstGeom>
          <a:solidFill>
            <a:srgbClr val="48C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257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8CAE4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Search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5257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Aperture Search subgraph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5257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Calibri"/>
              </a:defRPr>
            </a:pPr>
            <a:r>
              <a:t>📝 Draft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257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2578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Search 2.0 strategy,</a:t>
            </a:r>
            <a:br/>
            <a:r>
              <a:t>contract compatibility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77F00"/>
                </a:solidFill>
                <a:latin typeface="Calibri"/>
              </a:defRPr>
            </a:pPr>
            <a:r>
              <a:t>Driver: Derrick Mink (departed) → Ownership gap to be addressed  |  Approvers: Dan Sparks, Fuad Rashid  |  INIT-2073: In 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229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Risks, Mitigations &amp; Immediate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0"/>
                </a:solidFill>
                <a:latin typeface="Calibri"/>
              </a:defRPr>
            </a:pPr>
            <a:r>
              <a:t>SAILPOINT  |  RAPTOR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2743200" cy="210312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743200" cy="54864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3545"/>
                </a:solidFill>
                <a:latin typeface="Calibri"/>
              </a:defRPr>
            </a:pPr>
            <a:r>
              <a:t>⚠️  Driver Departed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Derrick Mink left — ownership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across all DACI lanes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✅ Assign new drivers per 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060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immediately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188720"/>
            <a:ext cx="2743200" cy="210312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F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188720"/>
            <a:ext cx="2743200" cy="5486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298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7F00"/>
                </a:solidFill>
                <a:latin typeface="Calibri"/>
              </a:defRPr>
            </a:pPr>
            <a:r>
              <a:t>🚧  DevOps Bottleneck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1691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Infrastructure intake can 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9202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POC velocity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148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383280" y="23774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✅ Pre-stub stories, align early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6060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with SRE teams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188720"/>
            <a:ext cx="2743200" cy="210312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1188720"/>
            <a:ext cx="2743200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298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Calibri"/>
              </a:defRPr>
            </a:pPr>
            <a:r>
              <a:t>🏗️  Infra Complexity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691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Self-hosted DBs require 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9202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expertise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148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263640" y="23774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✅ Evaluate SaaS alternatives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6060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in parallel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1188720"/>
            <a:ext cx="2743200" cy="210312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1188720"/>
            <a:ext cx="27432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1298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👥  Team Capacity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691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Limited bandwidth for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19202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multi-lane POCs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148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9144000" y="23774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✅ Engage evolv/tiger teams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060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for environment setup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7F00"/>
                </a:solidFill>
                <a:latin typeface="Calibri"/>
              </a:defRPr>
            </a:pPr>
            <a:r>
              <a:t>⚡ Immediate Next Steps: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023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1️⃣  Assess current POC state — what's deployed &amp; running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480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2️⃣  Clarify ownership — new drivers for each DACI lane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937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3️⃣  Address DPINTAKE-33 — delivery date for Identity Graph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394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4️⃣  Unblock backlog — assign subgraph stories 5980/5981/5982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023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5️⃣  Rename to Raptor — update Confluence, Jira, Slack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480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6️⃣  Establish weekly cadence — "Raptor Updates" posts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937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7️⃣  Schedule kickoff sync — Forge, Keel, DIPO, Double Zero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Let's Move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Calibri"/>
              </a:defRPr>
            </a:pPr>
            <a:r>
              <a:t>Raptor: From POC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A0"/>
                </a:solidFill>
                <a:latin typeface="Calibri"/>
              </a:defRPr>
            </a:pPr>
            <a:r>
              <a:t>📧 dattu.marneni@sailpoint.com  |  📋 DPINTAKE-33  |  💬 #raptor-data-platform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