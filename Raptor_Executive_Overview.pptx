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37160" cy="63276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🦅  Raptor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8CAE4"/>
                </a:solidFill>
                <a:latin typeface="Calibri"/>
              </a:defRPr>
            </a:pPr>
            <a:r>
              <a:t>One Door to Data at Scale  —  Executive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CA0"/>
                </a:solidFill>
                <a:latin typeface="Calibri"/>
              </a:defRPr>
            </a:pPr>
            <a:r>
              <a:t>SAILPOINT  | 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A0"/>
                </a:solidFill>
                <a:latin typeface="Calibri"/>
              </a:defRPr>
            </a:pPr>
            <a:r>
              <a:t>March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229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Challenge: Why We Need Raptor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0"/>
                </a:solidFill>
                <a:latin typeface="Calibri"/>
              </a:defRPr>
            </a:pPr>
            <a:r>
              <a:t>SAILPOINT  |  RAPTOR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103120" cy="237744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F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103120" cy="5486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7F00"/>
                </a:solidFill>
                <a:latin typeface="Calibri"/>
              </a:defRPr>
            </a:pPr>
            <a:r>
              <a:t>💰  Unsustainable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Materializers cost $100K+/month.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Re-processing millions of records for small 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280160"/>
            <a:ext cx="2103120" cy="237744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280160"/>
            <a:ext cx="2103120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389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Calibri"/>
              </a:defRPr>
            </a:pPr>
            <a:r>
              <a:t>🕸️  Growing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783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Each feature adds bespoke pipelines.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Brittle web of dependencies slows innovation.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280160"/>
            <a:ext cx="2103120" cy="237744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280160"/>
            <a:ext cx="2103120" cy="54864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389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3545"/>
                </a:solidFill>
                <a:latin typeface="Calibri"/>
              </a:defRPr>
            </a:pPr>
            <a:r>
              <a:t>🚧  Platform Bottleneck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783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Data platform is critical path for all teams.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Small product changes need deep DE involvement.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280160"/>
            <a:ext cx="2103120" cy="237744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1280160"/>
            <a:ext cx="2103120" cy="5486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1389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F42C1"/>
                </a:solidFill>
                <a:latin typeface="Calibri"/>
              </a:defRPr>
            </a:pPr>
            <a:r>
              <a:t>⏰  Fragile Freshness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1783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"Real-time" = frequent batch runs.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Hours of lag before fresh data in products.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1280160"/>
            <a:ext cx="2103120" cy="237744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1280160"/>
            <a:ext cx="210312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1389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💣  High Blast Radius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1783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Minor updates cascade through millions of rows.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Days of re-materialization 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77F00"/>
                </a:solidFill>
                <a:latin typeface="Calibri"/>
              </a:defRPr>
            </a:pPr>
            <a:r>
              <a:t>⚠️  Current search materialization costs exceed $150,000/month in compute alone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4846320"/>
            <a:ext cx="9418320" cy="1280160"/>
          </a:xfrm>
          <a:prstGeom prst="roundRect">
            <a:avLst/>
          </a:prstGeom>
          <a:solidFill>
            <a:srgbClr val="1A2D5A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5029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5"/>
                </a:solidFill>
                <a:latin typeface="Calibri"/>
              </a:defRPr>
            </a:pPr>
            <a:r>
              <a:t>"Our current approach is hitting a wall — technically, financially, and organizationally.</a:t>
            </a:r>
            <a:br/>
            <a:r>
              <a:t>Aperture is the necessary pivot — a shift from pre-built documents to composable, on-demand data delivery."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229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What is Raptor?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0"/>
                </a:solidFill>
                <a:latin typeface="Calibri"/>
              </a:defRPr>
            </a:pPr>
            <a:r>
              <a:t>SAILPOINT  |  RAPTOR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8CAE4"/>
                </a:solidFill>
                <a:latin typeface="Calibri"/>
              </a:defRPr>
            </a:pPr>
            <a:r>
              <a:t>A single external API that powers every product experience needing data,</a:t>
            </a:r>
            <a:br/>
            <a:r>
              <a:t>delivered quickly, accurately, and cost-effectively.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5029200" cy="320040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5029200" cy="54864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3545"/>
                </a:solidFill>
                <a:latin typeface="Calibri"/>
              </a:defRPr>
            </a:pPr>
            <a:r>
              <a:t>🔴  BEFORE (Materializer-first)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❌  Big pre-built documents per 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❌  Expensive backfills &amp; replays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❌  Multi-day lead time for new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747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❌  "Freshness" via constant re-materialization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❌  Every change = millions of records rebuilt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319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❌  High storage from data duplication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286000"/>
            <a:ext cx="5029200" cy="320040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286000"/>
            <a:ext cx="5029200" cy="5486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3957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A745"/>
                </a:solidFill>
                <a:latin typeface="Calibri"/>
              </a:defRPr>
            </a:pPr>
            <a:r>
              <a:t>🟢  AFTER (Raptor / GraphQL-first)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✅  On-demand composition via federated subgraphs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0175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✅  Real-time by design: fetch fresh state directly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2461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✅  New fields in hours, not 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4747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✅  Materializers become thin or optional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7033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✅  Targeted rebuilds, not global reprocessing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9319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✅  Single source of truth per entity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69280"/>
            <a:ext cx="10698480" cy="594360"/>
          </a:xfrm>
          <a:prstGeom prst="roundRect">
            <a:avLst/>
          </a:prstGeom>
          <a:solidFill>
            <a:srgbClr val="1A2D5A"/>
          </a:solidFill>
          <a:ln w="12700">
            <a:solidFill>
              <a:srgbClr val="F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A63D"/>
                </a:solidFill>
                <a:latin typeface="Calibri"/>
              </a:defRPr>
            </a:pPr>
            <a:r>
              <a:t>🍽️  Think of it like a restaurant: Today we cook every item on the menu just in case. With Raptor, we prepare ingredients once and cook dishes fresh when ordered.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229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Architecture: 5 Specialized Data Lanes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0"/>
                </a:solidFill>
                <a:latin typeface="Calibri"/>
              </a:defRPr>
            </a:pPr>
            <a:r>
              <a:t>SAILPOINT  |  RAPTOR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103120" cy="292608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10312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Pointed</a:t>
            </a:r>
            <a:br/>
            <a:r>
              <a:t>Lookups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ScyllaDB / Aerospike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p95 ≤ 10ms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F0F5"/>
                </a:solidFill>
                <a:latin typeface="Calibri"/>
              </a:defRPr>
            </a:pPr>
            <a:r>
              <a:t>Entity hydration</a:t>
            </a:r>
            <a:br/>
            <a:r>
              <a:t>in milliseconds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371600"/>
            <a:ext cx="2103120" cy="292608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371600"/>
            <a:ext cx="2103120" cy="5486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8A745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8745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Graph</a:t>
            </a:r>
            <a:br/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8A745"/>
                </a:solidFill>
                <a:latin typeface="Calibri"/>
              </a:defRPr>
            </a:pPr>
            <a:r>
              <a:t>JanusGraph on Scylla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743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p95 &lt; 1s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154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F0F5"/>
                </a:solidFill>
                <a:latin typeface="Calibri"/>
              </a:defRPr>
            </a:pPr>
            <a:r>
              <a:t>Relationship</a:t>
            </a:r>
            <a:br/>
            <a:r>
              <a:t>traversals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1371600"/>
            <a:ext cx="2103120" cy="292608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F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1371600"/>
            <a:ext cx="2103120" cy="5486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77F0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18745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Real-Time</a:t>
            </a:r>
            <a:br/>
            <a:r>
              <a:t>Aggregates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77F00"/>
                </a:solidFill>
                <a:latin typeface="Calibri"/>
              </a:defRPr>
            </a:pPr>
            <a:r>
              <a:t>ClickHouse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743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p95 &lt; 300ms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154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F0F5"/>
                </a:solidFill>
                <a:latin typeface="Calibri"/>
              </a:defRPr>
            </a:pPr>
            <a:r>
              <a:t>Dashboards &amp;</a:t>
            </a:r>
            <a:br/>
            <a:r>
              <a:t>anomalies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371600"/>
            <a:ext cx="2103120" cy="292608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1371600"/>
            <a:ext cx="2103120" cy="5486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F42C1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18745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Search &amp;</a:t>
            </a:r>
            <a:br/>
            <a:r>
              <a:t>Discovery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F42C1"/>
                </a:solidFill>
                <a:latin typeface="Calibri"/>
              </a:defRPr>
            </a:pPr>
            <a:r>
              <a:t>OpenSearch / 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743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p95 &lt; 200ms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154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F0F5"/>
                </a:solidFill>
                <a:latin typeface="Calibri"/>
              </a:defRPr>
            </a:pPr>
            <a:r>
              <a:t>Full-text search</a:t>
            </a:r>
            <a:br/>
            <a:r>
              <a:t>&amp; autocomplete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1371600"/>
            <a:ext cx="2103120" cy="292608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8C8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1371600"/>
            <a:ext cx="2103120" cy="54864"/>
          </a:xfrm>
          <a:prstGeom prst="rect">
            <a:avLst/>
          </a:prstGeom>
          <a:solidFill>
            <a:srgbClr val="8C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C8CA0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18745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Historical</a:t>
            </a:r>
            <a:br/>
            <a:r>
              <a:t>&amp; Batch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8CA0"/>
                </a:solidFill>
                <a:latin typeface="Calibri"/>
              </a:defRPr>
            </a:pPr>
            <a:r>
              <a:t>Snowflake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2743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Hours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154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F0F5"/>
                </a:solidFill>
                <a:latin typeface="Calibri"/>
              </a:defRPr>
            </a:pPr>
            <a:r>
              <a:t>Reporting,</a:t>
            </a:r>
            <a:br/>
            <a:r>
              <a:t>compliance, ML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572000"/>
            <a:ext cx="11247120" cy="73152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617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🌐  Unified GraphQL Gateway  (Apollo Router + Federation 2)  →  Single External Schema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A63D"/>
                </a:solidFill>
                <a:latin typeface="Calibri"/>
              </a:defRPr>
            </a:pPr>
            <a:r>
              <a:t>🤖  AI-Ready via MCP: Schema &amp; metadata auto-published for AI agents and copilots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229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Target Outcomes &amp; Business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0"/>
                </a:solidFill>
                <a:latin typeface="Calibri"/>
              </a:defRPr>
            </a:pPr>
            <a:r>
              <a:t>SAILPOINT  |  RAPTOR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103120" cy="137160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Calibri"/>
              </a:defRPr>
            </a:pPr>
            <a:r>
              <a:t>30-50%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F0F5"/>
                </a:solidFill>
                <a:latin typeface="Calibri"/>
              </a:defRPr>
            </a:pPr>
            <a:r>
              <a:t>Cost Reduction</a:t>
            </a:r>
            <a:br/>
            <a:r>
              <a:t>vs. Snowflake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2103120" cy="137160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508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8A745"/>
                </a:solidFill>
                <a:latin typeface="Calibri"/>
              </a:defRPr>
            </a:pPr>
            <a:r>
              <a:t>&lt; 2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65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F0F5"/>
                </a:solidFill>
                <a:latin typeface="Calibri"/>
              </a:defRPr>
            </a:pPr>
            <a:r>
              <a:t>New Entity</a:t>
            </a:r>
            <a:br/>
            <a:r>
              <a:t>to GraphQL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371600"/>
            <a:ext cx="2103120" cy="137160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F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508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77F00"/>
                </a:solidFill>
                <a:latin typeface="Calibri"/>
              </a:defRPr>
            </a:pPr>
            <a:r>
              <a:t>≥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65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F0F5"/>
                </a:solidFill>
                <a:latin typeface="Calibri"/>
              </a:defRPr>
            </a:pPr>
            <a:r>
              <a:t>Materializers</a:t>
            </a:r>
            <a:br/>
            <a:r>
              <a:t>Retired by mid-2026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371600"/>
            <a:ext cx="2103120" cy="137160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508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F42C1"/>
                </a:solidFill>
                <a:latin typeface="Calibri"/>
              </a:defRPr>
            </a:pPr>
            <a:r>
              <a:t>99.99%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965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F0F5"/>
                </a:solidFill>
                <a:latin typeface="Calibri"/>
              </a:defRPr>
            </a:pPr>
            <a:r>
              <a:t>Availability</a:t>
            </a:r>
            <a:br/>
            <a:r>
              <a:t>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371600"/>
            <a:ext cx="2103120" cy="137160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508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8CAE4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965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F0F5"/>
                </a:solidFill>
                <a:latin typeface="Calibri"/>
              </a:defRPr>
            </a:pPr>
            <a:r>
              <a:t>Developer</a:t>
            </a:r>
            <a:br/>
            <a:r>
              <a:t>Satisfaction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00400"/>
            <a:ext cx="2651760" cy="173736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265176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3101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🚀  Faster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033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Product teams no longer need custom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9319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pipelines — days instead of weeks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3200400"/>
            <a:ext cx="2651760" cy="173736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3200400"/>
            <a:ext cx="265176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3101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⏱️  Real-Time Experiences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7033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Fresh data for JIT access, 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9319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dashboards, dynamic policy eval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200400"/>
            <a:ext cx="2651760" cy="173736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3200400"/>
            <a:ext cx="265176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3101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💰  Lower 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7033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Reduce data duplication, fewer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9319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breakages, simpler operations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3200400"/>
            <a:ext cx="2651760" cy="173736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61120" y="3200400"/>
            <a:ext cx="265176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33101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🤖  AI-Ready Foundation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37033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GraphQL + MCP enables natural language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9319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querying and AI copilot integration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8CAE4"/>
                </a:solidFill>
                <a:latin typeface="Calibri"/>
              </a:defRPr>
            </a:pPr>
            <a:r>
              <a:t>"Raptor gives product teams a single, flexible, real-time source of truth for every experience that depends on data."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A0"/>
                </a:solidFill>
                <a:latin typeface="Calibri"/>
              </a:defRPr>
            </a:pPr>
            <a:r>
              <a:t>📧 dattu.marneni@sailpoint.com  |  📋 DPINTAKE-33  |  💬 #raptor-data-platform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